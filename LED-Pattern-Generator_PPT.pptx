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Fira Mono Medium" panose="020F0502020204030204" pitchFamily="49" charset="0"/>
      <p:regular r:id="rId13"/>
    </p:embeddedFont>
    <p:embeddedFont>
      <p:font typeface="Fira Sans" panose="020F0502020204030204" pitchFamily="3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7260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91013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Design and Implementation of LED Pattern Generator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85751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 exploration of creating visual masterpieces with LEDs.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47556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 project of  showcasing the beauty of discrete ICs.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06453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Project Objective: LED Pattern Generation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76417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2E2E2F"/>
          </a:solidFill>
          <a:ln/>
        </p:spPr>
      </p:sp>
      <p:sp>
        <p:nvSpPr>
          <p:cNvPr id="5" name="Text 2"/>
          <p:cNvSpPr/>
          <p:nvPr/>
        </p:nvSpPr>
        <p:spPr>
          <a:xfrm>
            <a:off x="1530906" y="58420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Visual Patterns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6332458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Generate dynamic LED patterns, like numbers and stars.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35893" y="576417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2E2E2F"/>
          </a:solidFill>
          <a:ln/>
        </p:spPr>
      </p:sp>
      <p:sp>
        <p:nvSpPr>
          <p:cNvPr id="8" name="Text 5"/>
          <p:cNvSpPr/>
          <p:nvPr/>
        </p:nvSpPr>
        <p:spPr>
          <a:xfrm>
            <a:off x="5973008" y="58420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Discrete ICs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973008" y="6332458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Employ 555 timer and CD4017 counter ICs.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677995" y="576417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2E2E2F"/>
          </a:solidFill>
          <a:ln/>
        </p:spPr>
      </p:sp>
      <p:sp>
        <p:nvSpPr>
          <p:cNvPr id="11" name="Text 8"/>
          <p:cNvSpPr/>
          <p:nvPr/>
        </p:nvSpPr>
        <p:spPr>
          <a:xfrm>
            <a:off x="10415111" y="5842040"/>
            <a:ext cx="323052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No Microcontrollers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415111" y="6332458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Achieve pattern control without complex microcontrollers.</a:t>
            </a:r>
            <a:endParaRPr lang="en-US" sz="17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A6DF5A6-EB51-10BE-3F69-2C5C02020239}"/>
              </a:ext>
            </a:extLst>
          </p:cNvPr>
          <p:cNvSpPr/>
          <p:nvPr/>
        </p:nvSpPr>
        <p:spPr>
          <a:xfrm>
            <a:off x="12404800" y="7616283"/>
            <a:ext cx="2136390" cy="51030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86094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Key Components for LED Control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3618667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0190" y="4412456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555 Timer IC</a:t>
            </a:r>
            <a:endParaRPr lang="en-US" sz="22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3493" y="3618667"/>
            <a:ext cx="566976" cy="56697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893493" y="4412456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CD4017 IC</a:t>
            </a:r>
            <a:endParaRPr lang="en-US" sz="22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06795" y="3618667"/>
            <a:ext cx="566976" cy="566976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1506795" y="4412456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LEDs</a:t>
            </a:r>
            <a:endParaRPr lang="en-US" sz="22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0190" y="5220414"/>
            <a:ext cx="566976" cy="566976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6280190" y="6014204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Resistors</a:t>
            </a:r>
            <a:endParaRPr lang="en-US" sz="22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F96C40-C9EF-AECF-405F-C819F034E364}"/>
              </a:ext>
            </a:extLst>
          </p:cNvPr>
          <p:cNvSpPr/>
          <p:nvPr/>
        </p:nvSpPr>
        <p:spPr>
          <a:xfrm>
            <a:off x="12890810" y="7616283"/>
            <a:ext cx="1650380" cy="51030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21412"/>
            <a:ext cx="816447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555 Timer Circuit Design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Astable Mode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7831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Generates continuous clock pulses for timing.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Frequency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578310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Calculated by f = 1.44 / ((R1 + 2R2) * C).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Example Values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57831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R1 = 1kΩ, R2 = 10kΩ, C = 0.1μF for ~700 Hz.</a:t>
            </a:r>
            <a:endParaRPr lang="en-US" sz="17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32CFB4-7DD2-709B-2634-F8565E7376C1}"/>
              </a:ext>
            </a:extLst>
          </p:cNvPr>
          <p:cNvSpPr/>
          <p:nvPr/>
        </p:nvSpPr>
        <p:spPr>
          <a:xfrm>
            <a:off x="12873151" y="7719298"/>
            <a:ext cx="1668039" cy="39879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38553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CD4017 Decade Counter Operation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1048941" y="3143250"/>
            <a:ext cx="30480" cy="3700820"/>
          </a:xfrm>
          <a:prstGeom prst="roundRect">
            <a:avLst>
              <a:gd name="adj" fmla="val 111628"/>
            </a:avLst>
          </a:prstGeom>
          <a:solidFill>
            <a:srgbClr val="474748"/>
          </a:solidFill>
          <a:ln/>
        </p:spPr>
      </p:sp>
      <p:sp>
        <p:nvSpPr>
          <p:cNvPr id="5" name="Shape 2"/>
          <p:cNvSpPr/>
          <p:nvPr/>
        </p:nvSpPr>
        <p:spPr>
          <a:xfrm>
            <a:off x="1273612" y="3383161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474748"/>
          </a:solidFill>
          <a:ln/>
        </p:spPr>
      </p:sp>
      <p:sp>
        <p:nvSpPr>
          <p:cNvPr id="6" name="Shape 3"/>
          <p:cNvSpPr/>
          <p:nvPr/>
        </p:nvSpPr>
        <p:spPr>
          <a:xfrm>
            <a:off x="793790" y="314325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2E2E2F"/>
          </a:solidFill>
          <a:ln/>
        </p:spPr>
      </p:sp>
      <p:sp>
        <p:nvSpPr>
          <p:cNvPr id="7" name="Text 4"/>
          <p:cNvSpPr/>
          <p:nvPr/>
        </p:nvSpPr>
        <p:spPr>
          <a:xfrm>
            <a:off x="878860" y="3185755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2183011" y="3221117"/>
            <a:ext cx="357056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Sequential Activation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183011" y="3711535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Outputs activate in sequence upon each clock pulse.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273612" y="4767977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474748"/>
          </a:solidFill>
          <a:ln/>
        </p:spPr>
      </p:sp>
      <p:sp>
        <p:nvSpPr>
          <p:cNvPr id="11" name="Shape 8"/>
          <p:cNvSpPr/>
          <p:nvPr/>
        </p:nvSpPr>
        <p:spPr>
          <a:xfrm>
            <a:off x="793790" y="452806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2E2E2F"/>
          </a:solidFill>
          <a:ln/>
        </p:spPr>
      </p:sp>
      <p:sp>
        <p:nvSpPr>
          <p:cNvPr id="12" name="Text 9"/>
          <p:cNvSpPr/>
          <p:nvPr/>
        </p:nvSpPr>
        <p:spPr>
          <a:xfrm>
            <a:off x="878860" y="457057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2183011" y="46059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LED Connections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183011" y="5096351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Each output directly connected to an LED.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1273612" y="6152793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474748"/>
          </a:solidFill>
          <a:ln/>
        </p:spPr>
      </p:sp>
      <p:sp>
        <p:nvSpPr>
          <p:cNvPr id="16" name="Shape 13"/>
          <p:cNvSpPr/>
          <p:nvPr/>
        </p:nvSpPr>
        <p:spPr>
          <a:xfrm>
            <a:off x="793790" y="591288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2E2E2F"/>
          </a:solidFill>
          <a:ln/>
        </p:spPr>
      </p:sp>
      <p:sp>
        <p:nvSpPr>
          <p:cNvPr id="17" name="Text 14"/>
          <p:cNvSpPr/>
          <p:nvPr/>
        </p:nvSpPr>
        <p:spPr>
          <a:xfrm>
            <a:off x="878860" y="595538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2183011" y="59907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Pattern Control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2183011" y="6481167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Reset pin controls pattern length and sequence.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59825"/>
            <a:ext cx="1122616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Custom PCB Implementation Process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622233"/>
            <a:ext cx="2173724" cy="1306949"/>
          </a:xfrm>
          <a:prstGeom prst="roundRect">
            <a:avLst>
              <a:gd name="adj" fmla="val 2603"/>
            </a:avLst>
          </a:prstGeom>
          <a:solidFill>
            <a:srgbClr val="2E2E2F"/>
          </a:solidFill>
          <a:ln/>
        </p:spPr>
      </p:sp>
      <p:sp>
        <p:nvSpPr>
          <p:cNvPr id="4" name="Text 2"/>
          <p:cNvSpPr/>
          <p:nvPr/>
        </p:nvSpPr>
        <p:spPr>
          <a:xfrm>
            <a:off x="1721167" y="3076337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194328" y="28490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Design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194328" y="3339465"/>
            <a:ext cx="347352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Use Eagle or KiCad for PCB layout.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3080861" y="3913942"/>
            <a:ext cx="10642402" cy="15240"/>
          </a:xfrm>
          <a:prstGeom prst="roundRect">
            <a:avLst>
              <a:gd name="adj" fmla="val 223256"/>
            </a:avLst>
          </a:prstGeom>
          <a:solidFill>
            <a:srgbClr val="474748"/>
          </a:solidFill>
          <a:ln/>
        </p:spPr>
      </p:sp>
      <p:sp>
        <p:nvSpPr>
          <p:cNvPr id="8" name="Shape 6"/>
          <p:cNvSpPr/>
          <p:nvPr/>
        </p:nvSpPr>
        <p:spPr>
          <a:xfrm>
            <a:off x="793790" y="4042529"/>
            <a:ext cx="4347567" cy="1306949"/>
          </a:xfrm>
          <a:prstGeom prst="roundRect">
            <a:avLst>
              <a:gd name="adj" fmla="val 2603"/>
            </a:avLst>
          </a:prstGeom>
          <a:solidFill>
            <a:srgbClr val="2E2E2F"/>
          </a:solidFill>
          <a:ln/>
        </p:spPr>
      </p:sp>
      <p:sp>
        <p:nvSpPr>
          <p:cNvPr id="9" name="Text 7"/>
          <p:cNvSpPr/>
          <p:nvPr/>
        </p:nvSpPr>
        <p:spPr>
          <a:xfrm>
            <a:off x="2808089" y="4496633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5368171" y="42693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Placement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368171" y="4759762"/>
            <a:ext cx="48563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Optimize component placement for signal flow.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5254704" y="5334238"/>
            <a:ext cx="8468558" cy="15240"/>
          </a:xfrm>
          <a:prstGeom prst="roundRect">
            <a:avLst>
              <a:gd name="adj" fmla="val 223256"/>
            </a:avLst>
          </a:prstGeom>
          <a:solidFill>
            <a:srgbClr val="474748"/>
          </a:solidFill>
          <a:ln/>
        </p:spPr>
      </p:sp>
      <p:sp>
        <p:nvSpPr>
          <p:cNvPr id="13" name="Shape 11"/>
          <p:cNvSpPr/>
          <p:nvPr/>
        </p:nvSpPr>
        <p:spPr>
          <a:xfrm>
            <a:off x="793790" y="5462826"/>
            <a:ext cx="6521410" cy="1306949"/>
          </a:xfrm>
          <a:prstGeom prst="roundRect">
            <a:avLst>
              <a:gd name="adj" fmla="val 2603"/>
            </a:avLst>
          </a:prstGeom>
          <a:solidFill>
            <a:srgbClr val="2E2E2F"/>
          </a:solidFill>
          <a:ln/>
        </p:spPr>
      </p:sp>
      <p:sp>
        <p:nvSpPr>
          <p:cNvPr id="14" name="Text 12"/>
          <p:cNvSpPr/>
          <p:nvPr/>
        </p:nvSpPr>
        <p:spPr>
          <a:xfrm>
            <a:off x="3895011" y="5916930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7542014" y="56896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Routing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542014" y="6180058"/>
            <a:ext cx="48635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Minimize signal interference, ensure grounding.</a:t>
            </a:r>
            <a:endParaRPr lang="en-US" sz="17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B43037F-FAEA-75D7-EB04-D435928F1012}"/>
              </a:ext>
            </a:extLst>
          </p:cNvPr>
          <p:cNvSpPr/>
          <p:nvPr/>
        </p:nvSpPr>
        <p:spPr>
          <a:xfrm>
            <a:off x="12879658" y="7772399"/>
            <a:ext cx="1661531" cy="35418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1109"/>
            <a:ext cx="1088600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Generating LED Patterns Visually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743789" y="42693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LED Array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759762"/>
            <a:ext cx="37852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Connect to CD4017 outputs.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71411" y="4209098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26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9937790" y="30429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Resistors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937790" y="3533418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Select for LED brightness.</a:t>
            </a:r>
            <a:endParaRPr lang="en-US" sz="17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170307" y="3258026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26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7"/>
          <p:cNvSpPr/>
          <p:nvPr/>
        </p:nvSpPr>
        <p:spPr>
          <a:xfrm>
            <a:off x="9937790" y="54955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Example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9937790" y="5985986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Create a star shape sequence.</a:t>
            </a:r>
            <a:endParaRPr lang="en-US" sz="17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94533" y="5984200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26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2A4A43-3DFB-1456-8DB8-806AEB3DF706}"/>
              </a:ext>
            </a:extLst>
          </p:cNvPr>
          <p:cNvSpPr/>
          <p:nvPr/>
        </p:nvSpPr>
        <p:spPr>
          <a:xfrm>
            <a:off x="12404800" y="7616283"/>
            <a:ext cx="2136390" cy="51030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64926"/>
            <a:ext cx="1122616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Project Results and Demonstration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3427333"/>
            <a:ext cx="2152055" cy="8079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4892" y="3719155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357217" y="3654147"/>
            <a:ext cx="11902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Visuals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187077" y="4248388"/>
            <a:ext cx="8592860" cy="15240"/>
          </a:xfrm>
          <a:prstGeom prst="roundRect">
            <a:avLst>
              <a:gd name="adj" fmla="val 223256"/>
            </a:avLst>
          </a:prstGeom>
          <a:solidFill>
            <a:srgbClr val="474748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381" y="4291965"/>
            <a:ext cx="4304109" cy="80795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94892" y="4496633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2</a:t>
            </a:r>
            <a:endParaRPr lang="en-US" sz="2500" dirty="0"/>
          </a:p>
        </p:txBody>
      </p:sp>
      <p:sp>
        <p:nvSpPr>
          <p:cNvPr id="9" name="Text 5"/>
          <p:cNvSpPr/>
          <p:nvPr/>
        </p:nvSpPr>
        <p:spPr>
          <a:xfrm>
            <a:off x="6433304" y="4518779"/>
            <a:ext cx="11902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Metrics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6263164" y="5113020"/>
            <a:ext cx="7516773" cy="15240"/>
          </a:xfrm>
          <a:prstGeom prst="roundRect">
            <a:avLst>
              <a:gd name="adj" fmla="val 223256"/>
            </a:avLst>
          </a:prstGeom>
          <a:solidFill>
            <a:srgbClr val="474748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94" y="5156597"/>
            <a:ext cx="6456164" cy="80795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894773" y="5361265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3</a:t>
            </a:r>
            <a:endParaRPr lang="en-US" sz="2500" dirty="0"/>
          </a:p>
        </p:txBody>
      </p:sp>
      <p:sp>
        <p:nvSpPr>
          <p:cNvPr id="13" name="Text 8"/>
          <p:cNvSpPr/>
          <p:nvPr/>
        </p:nvSpPr>
        <p:spPr>
          <a:xfrm>
            <a:off x="7509272" y="5383411"/>
            <a:ext cx="13602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Accuracy</a:t>
            </a:r>
            <a:endParaRPr lang="en-US" sz="22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652B4F7-2833-75BC-A6D1-8AC05030678E}"/>
              </a:ext>
            </a:extLst>
          </p:cNvPr>
          <p:cNvSpPr/>
          <p:nvPr/>
        </p:nvSpPr>
        <p:spPr>
          <a:xfrm>
            <a:off x="12857356" y="7616283"/>
            <a:ext cx="1683834" cy="51030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63413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Advantages and Applications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391853"/>
            <a:ext cx="3664863" cy="1669852"/>
          </a:xfrm>
          <a:prstGeom prst="roundRect">
            <a:avLst>
              <a:gd name="adj" fmla="val 2038"/>
            </a:avLst>
          </a:prstGeom>
          <a:solidFill>
            <a:srgbClr val="2E2E2F"/>
          </a:solidFill>
          <a:ln/>
        </p:spPr>
      </p:sp>
      <p:sp>
        <p:nvSpPr>
          <p:cNvPr id="5" name="Text 2"/>
          <p:cNvSpPr/>
          <p:nvPr/>
        </p:nvSpPr>
        <p:spPr>
          <a:xfrm>
            <a:off x="6507004" y="36186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Cost-Effective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07004" y="4109085"/>
            <a:ext cx="3211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Lower cost than microcontroller options.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3391853"/>
            <a:ext cx="3664863" cy="1669852"/>
          </a:xfrm>
          <a:prstGeom prst="roundRect">
            <a:avLst>
              <a:gd name="adj" fmla="val 2038"/>
            </a:avLst>
          </a:prstGeom>
          <a:solidFill>
            <a:srgbClr val="2E2E2F"/>
          </a:solidFill>
          <a:ln/>
        </p:spPr>
      </p:sp>
      <p:sp>
        <p:nvSpPr>
          <p:cNvPr id="8" name="Text 5"/>
          <p:cNvSpPr/>
          <p:nvPr/>
        </p:nvSpPr>
        <p:spPr>
          <a:xfrm>
            <a:off x="10398681" y="36186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Educational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398681" y="4109085"/>
            <a:ext cx="3211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Teaches basic digital logic concepts.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288518"/>
            <a:ext cx="7556421" cy="1306949"/>
          </a:xfrm>
          <a:prstGeom prst="roundRect">
            <a:avLst>
              <a:gd name="adj" fmla="val 2603"/>
            </a:avLst>
          </a:prstGeom>
          <a:solidFill>
            <a:srgbClr val="2E2E2F"/>
          </a:solidFill>
          <a:ln/>
        </p:spPr>
      </p:sp>
      <p:sp>
        <p:nvSpPr>
          <p:cNvPr id="11" name="Text 8"/>
          <p:cNvSpPr/>
          <p:nvPr/>
        </p:nvSpPr>
        <p:spPr>
          <a:xfrm>
            <a:off x="6507004" y="55153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Simple Design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07004" y="6005751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Easy to understand and replicate.</a:t>
            </a:r>
            <a:endParaRPr lang="en-US" sz="17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5D8083-9788-96DE-4386-8D5A0154127C}"/>
              </a:ext>
            </a:extLst>
          </p:cNvPr>
          <p:cNvSpPr/>
          <p:nvPr/>
        </p:nvSpPr>
        <p:spPr>
          <a:xfrm>
            <a:off x="12846204" y="7761249"/>
            <a:ext cx="1694985" cy="36533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9455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Conclusion: Project Success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2952274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54422" y="31790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Outcome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754422" y="3669506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Achieved LED pattern generation.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4313158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54422" y="45399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Learning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754422" y="5030391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Reinforced timer and counter concepts.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0190" y="5674042"/>
            <a:ext cx="1134070" cy="13608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54422" y="59008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Future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754422" y="6391275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Explore complex patterns/control.</a:t>
            </a:r>
            <a:endParaRPr lang="en-US" sz="17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109D8A-C873-9145-6732-F53AAC620C11}"/>
              </a:ext>
            </a:extLst>
          </p:cNvPr>
          <p:cNvSpPr/>
          <p:nvPr/>
        </p:nvSpPr>
        <p:spPr>
          <a:xfrm>
            <a:off x="12868506" y="7763681"/>
            <a:ext cx="1672683" cy="36290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287</Words>
  <Application>Microsoft Office PowerPoint</Application>
  <PresentationFormat>Custom</PresentationFormat>
  <Paragraphs>83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Fira Sans</vt:lpstr>
      <vt:lpstr>Fira Mono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Mani Tony</cp:lastModifiedBy>
  <cp:revision>2</cp:revision>
  <dcterms:created xsi:type="dcterms:W3CDTF">2025-04-29T18:26:19Z</dcterms:created>
  <dcterms:modified xsi:type="dcterms:W3CDTF">2025-04-29T18:34:35Z</dcterms:modified>
</cp:coreProperties>
</file>